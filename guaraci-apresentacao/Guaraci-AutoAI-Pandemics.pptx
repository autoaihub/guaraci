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1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800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(0:30). Guaraci = o sol na mitologia tupi-guarani: a ideia é iluminar/centralizar dados públicos de saúde e ambiente. Eu sou o Luis, trabalho na camada de coleta de dados do AutoAI-Pandemics.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AutoAI-Pandemics (2:00). É o guarda-chuva. PI André (USP), Co-PI Robson (UTFPR-Paraná). Financiado pelo IDRC (Canadá) via rede AI4PEP. A missão é democratizar IA/dados para não-especialistas — guarde isso, é o fio da meada. O projeto tem vários pilares e TODOS dependem de dados: é aí que o Guaraci entra.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Posicionamento (1:30). Deixe claro que há DOIS Guaraci: a plataforma (ferramenta de coleta) e o datalake (repositório, com o Robson no Paraná). Minha contribuição específica é a automação da coleta — a seta do meio.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(1:30). Conte a dor concreta: para montar uma série de internações por UF/ano você hoje cata FTP, decodifica formato antigo e junta arquivo por arquivo. Feche com o público-alvo do AutoAI-Pandemics: o epidemiologista, o médico, o biólogo — não é de 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faz (1:00). Uma frase resume tudo. Três interfaces, um motor só, rodando em container. ~80 fontes.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Mecanismos (2:00). Não entrar fonte por fonte. A mensagem: cada fonte entrega o dado de um jeito (web/API/FTP) e a plataforma esconde essa diferença. Crawler é o mais trabalhoso de manter.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Experiência (1:30). Quatro passos. O ponto central: toda a complexidade técnica fica escondida. Se tiver um screenshot da UI, mostre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(0:45). Vire a chave: a entrega não é um download avulso, é alimentar continuamente o datalake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Medalhão (2:00). Padrão clássico de datalake. Bronze é a fundação (por isso na base): dado bruto. Nós entregamos o bronze; o time do datalake constrói prata e ouro em cima.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Automação (2:30) — coração da minha contribuição. O orquestrador agendado usa o discovery (que já existe) para medir volumetria sem baixar nada, compara com o baseline e só baixa o delta, que cai no bronze. Idempotente, rastreável, econômico. Explique bem o termo 'bater volumetria'.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Impacto (1:00). Amarre de volta à missão do projeto-mãe: democratizar o acesso. Esse é o sentido de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Aplicações (1:30). Provavelmente o que o André quer: ideias de projeto. O grande diferencial é cruzar saúde (DATASUS) com ambiente (NASA) — modelagem espaço-temporal de doenças.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&amp; estado (1:00). Números de credibilidade. Docker-first por reprodutibilidade. É alpha: estável no que importa (coleta), evoluindo no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completo (0:45). Recapitule o pipeline inteiro. As caixas douradas (coletor + bronze) são a minha parte; o resto é o ecossistema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(0:30 + Q&amp;A). Deixe o contato e os links visíveis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-777240"/>
            <a:ext cx="3383280" cy="3383280"/>
          </a:xfrm>
          <a:prstGeom prst="ellipse">
            <a:avLst/>
          </a:prstGeom>
          <a:solidFill>
            <a:srgbClr val="F5F6F3">
              <a:alpha val="0"/>
            </a:srgbClr>
          </a:solidFill>
          <a:ln w="19050">
            <a:solidFill>
              <a:srgbClr val="EFA63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0112" y="-320040"/>
            <a:ext cx="2468880" cy="2468880"/>
          </a:xfrm>
          <a:prstGeom prst="ellipse">
            <a:avLst/>
          </a:prstGeom>
          <a:solidFill>
            <a:srgbClr val="F5F6F3">
              <a:alpha val="0"/>
            </a:srgbClr>
          </a:solidFill>
          <a:ln w="19050">
            <a:solidFill>
              <a:srgbClr val="EFA63B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45720"/>
            <a:ext cx="1737360" cy="1737360"/>
          </a:xfrm>
          <a:prstGeom prst="ellipse">
            <a:avLst/>
          </a:prstGeom>
          <a:solidFill>
            <a:srgbClr val="EFA63B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TUPI-GUARANI  ·  GUARACI = O SOL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6C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Guaraci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automatizada de dados públicos para pesquisa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8680" y="3840480"/>
            <a:ext cx="4892040" cy="566928"/>
          </a:xfrm>
          <a:prstGeom prst="roundRect">
            <a:avLst>
              <a:gd name="adj" fmla="val 50000"/>
            </a:avLst>
          </a:prstGeom>
          <a:solidFill>
            <a:srgbClr val="0E3A43"/>
          </a:solidFill>
          <a:ln w="15875">
            <a:solidFill>
              <a:srgbClr val="EFA6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4048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6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componente do projeto AutoAI-Pandemics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Felipe Vogel Lopes</a:t>
            </a:r>
            <a:r>
              <a:rPr lang="en-US" sz="1400" dirty="0">
                <a:solidFill>
                  <a:srgbClr val="8F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nUSP 13730051    ·    vogel@usp.br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6199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São Paulo  ·  Guaraci v0.5.2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-420624"/>
            <a:ext cx="1316736" cy="1316736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12296" y="-182880"/>
            <a:ext cx="841248" cy="841248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0" y="100584"/>
            <a:ext cx="274320" cy="27432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457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PROJETO-MÃE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AutoAI-Pandemics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49834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38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preparação e resposta a epidemias e pandemias.</a:t>
            </a:r>
            <a:endParaRPr lang="en-US" sz="1450" dirty="0"/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Missão: democratizar a IA e a ciência de dados para quem não é especialista — biólogos, médicos e epidemiologistas.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715000" y="1783080"/>
            <a:ext cx="592531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1965960"/>
            <a:ext cx="5486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  </a:t>
            </a:r>
            <a:r>
              <a:rPr lang="en-US" sz="125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de Carvalho — PI (USP/ICMC) · Robson Bonidia — Co-PI (UTFPR, Paraná)</a:t>
            </a:r>
            <a:endParaRPr lang="en-US" sz="1250" dirty="0"/>
          </a:p>
          <a:p>
            <a:pPr marL="0" indent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  </a:t>
            </a:r>
            <a:r>
              <a:rPr lang="en-US" sz="125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brasileiro da AI4PEP (Global South AI for Pandemic &amp; Epidemic Preparedness &amp; Response)</a:t>
            </a:r>
            <a:endParaRPr lang="en-US" sz="1250" dirty="0"/>
          </a:p>
          <a:p>
            <a:pPr marL="0" indent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   </a:t>
            </a:r>
            <a:r>
              <a:rPr lang="en-US" sz="125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IDRC — agência pública de fomento à pesquisa do Canadá (programa IA para Saúde Global)</a:t>
            </a:r>
            <a:endParaRPr lang="en-US" sz="1250" dirty="0"/>
          </a:p>
          <a:p>
            <a:pPr marL="0" indent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  </a:t>
            </a:r>
            <a:r>
              <a:rPr lang="en-US" sz="125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Epidemiologia automatizada · bioinformática · combate à desinformação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0E3A43"/>
          </a:solidFill>
          <a:ln/>
          <a:effectLst>
            <a:outerShdw blurRad="101600" dist="25400" dir="8100000" algn="bl" rotWithShape="0">
              <a:srgbClr val="0A2E3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iniciativa do Brasil entre ~21 selecionadas em chamada global (AI4PEP · IDRC · UK Int'l Development) — grant ~CAD 206 mil.</a:t>
            </a:r>
            <a:r>
              <a:rPr lang="en-US" sz="1350" dirty="0">
                <a:solidFill>
                  <a:srgbClr val="F6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autoaipandemics.icmc.usp.br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-420624"/>
            <a:ext cx="1316736" cy="1316736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12296" y="-182880"/>
            <a:ext cx="841248" cy="841248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0" y="100584"/>
            <a:ext cx="274320" cy="27432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457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o Guaraci entra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AutoAI-Pandemics precisa de dados públicos em escala e atualizados. O Guaraci é essa camada de aquisição.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EFA63B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487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 — plataforma de coleta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90779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dados públicos direto da fonte oficial. É o que vou mostrar hoje.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23317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8232" y="2487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 — datalake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8232" y="290779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do projeto, no braço do Prof. Robson (UTFPR / Paraná). É o destino dos dados.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  <a:effectLst>
            <a:outerShdw blurRad="101600" dist="25400" dir="8100000" algn="bl" rotWithShape="0">
              <a:srgbClr val="0A2E3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297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 papel: a automação da coleta — o elo que abastece o datalake de forma contínua e rastreável.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33832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762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53492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públicas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5596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434840" y="5349240"/>
            <a:ext cx="33832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22225">
            <a:solidFill>
              <a:srgbClr val="EFA63B"/>
            </a:solidFill>
            <a:prstDash val="solid"/>
          </a:ln>
          <a:effectLst>
            <a:outerShdw blurRad="762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34840" y="53492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 · coletor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63840" y="5596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321040" y="5349240"/>
            <a:ext cx="33832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762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21040" y="53492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Datalake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-420624"/>
            <a:ext cx="1316736" cy="1316736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12296" y="-182880"/>
            <a:ext cx="841248" cy="841248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0" y="100584"/>
            <a:ext cx="274320" cy="27432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457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9436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65960"/>
            <a:ext cx="5486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público fragmentado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fonte expõe a informação de um jeito: páginas web, APIs, servidores FTP.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legados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antigos e comprimidos, difíceis de abrir.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Barreiras técnicas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Autenticação, paginação, parsing — semanas de “encanamento” antes da ciência.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20116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12280" y="2011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DATASUS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72600" y="20116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72600" y="2011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OpenDataSUS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12280" y="31546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3154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gov.br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72600" y="315468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72600" y="31546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422452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dispersas, sem padrão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EFA63B"/>
          </a:solidFill>
          <a:ln/>
          <a:effectLst>
            <a:outerShdw blurRad="101600" dist="25400" dir="8100000" algn="bl" rotWithShape="0">
              <a:srgbClr val="0A2E35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do dado é o pesquisador de saúde e ambiente — não o profissional de TI.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-420624"/>
            <a:ext cx="1316736" cy="1316736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12296" y="-182880"/>
            <a:ext cx="841248" cy="841248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0" y="100584"/>
            <a:ext cx="274320" cy="27432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457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 plataforma faz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91672" cy="1325880"/>
          </a:xfrm>
          <a:prstGeom prst="roundRect">
            <a:avLst>
              <a:gd name="adj" fmla="val 5517"/>
            </a:avLst>
          </a:prstGeom>
          <a:solidFill>
            <a:srgbClr val="0E3A43"/>
          </a:solidFill>
          <a:ln w="15875">
            <a:solidFill>
              <a:srgbClr val="0E3A43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78308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Baixa dados públicos, direto da fonte oficial, e entrega prontos para análise.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547872"/>
            <a:ext cx="201168" cy="20116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552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qualquer usuário, com aba avançada.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51960" y="333756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3547872"/>
            <a:ext cx="201168" cy="20116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884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integrar com outros sistemas.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55280" y="333756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83880" y="3547872"/>
            <a:ext cx="201168" cy="20116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02168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automação e scripts.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0E3A43"/>
          </a:solidFill>
          <a:ln/>
          <a:effectLst>
            <a:outerShdw blurRad="101600" dist="25400" dir="8100000" algn="bl" rotWithShape="0">
              <a:srgbClr val="0A2E35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6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fontes integradas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 saúde e de ambiente, sempre da fonte primária oficial.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-420624"/>
            <a:ext cx="1316736" cy="1316736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12296" y="-182880"/>
            <a:ext cx="841248" cy="841248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0" y="100584"/>
            <a:ext cx="274320" cy="27432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457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acessa as fontes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45643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5528" y="20116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5528" y="26974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 err="1" smtClean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</a:t>
            </a:r>
            <a:r>
              <a:rPr lang="en-US" sz="1350" dirty="0" smtClean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web quando o dado só existe em HTML.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5528" y="4023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manual de configurar e sensível a mudanças no site.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783080"/>
            <a:ext cx="345643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98848" y="20116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98848" y="26974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limpa e estruturada (REST, paginada).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98848" y="4023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mais robusto, quando a fonte oferece.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1783080"/>
            <a:ext cx="3456432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02168" y="201168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202168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02168" y="26974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de arquivos legados — o padrão do DATASUS.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02168" y="4023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decodifica os formatos antigos automaticamente.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0E3A43"/>
          </a:solidFill>
          <a:ln/>
          <a:effectLst>
            <a:outerShdw blurRad="101600" dist="25400" dir="8100000" algn="bl" rotWithShape="0">
              <a:srgbClr val="0A2E35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saúde (DATASUS, OpenDataSUS) e ambiente (NASA — clima, chuva, queimadas). A plataforma abstrai os três mecanismos.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-420624"/>
            <a:ext cx="1316736" cy="1316736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12296" y="-182880"/>
            <a:ext cx="841248" cy="841248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0" y="100584"/>
            <a:ext cx="274320" cy="27432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457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experiência de quem usa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27048" y="2286000"/>
            <a:ext cx="640080" cy="64008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10" name="Text 8"/>
          <p:cNvSpPr/>
          <p:nvPr/>
        </p:nvSpPr>
        <p:spPr>
          <a:xfrm>
            <a:off x="152704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a fonte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37560" y="20574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5968" y="2286000"/>
            <a:ext cx="640080" cy="64008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15" name="Text 13"/>
          <p:cNvSpPr/>
          <p:nvPr/>
        </p:nvSpPr>
        <p:spPr>
          <a:xfrm>
            <a:off x="431596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20440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um formulário simples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26480" y="20574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04888" y="2286000"/>
            <a:ext cx="640080" cy="64008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20" name="Text 18"/>
          <p:cNvSpPr/>
          <p:nvPr/>
        </p:nvSpPr>
        <p:spPr>
          <a:xfrm>
            <a:off x="710488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9360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o progresso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915400" y="205740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893808" y="2286000"/>
            <a:ext cx="640080" cy="64008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25" name="Text 23"/>
          <p:cNvSpPr/>
          <p:nvPr/>
        </p:nvSpPr>
        <p:spPr>
          <a:xfrm>
            <a:off x="9893808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098280" y="30632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CSV / Parquet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0E3A43"/>
          </a:solidFill>
          <a:ln/>
          <a:effectLst>
            <a:outerShdw blurRad="101600" dist="25400" dir="8100000" algn="bl" rotWithShape="0">
              <a:srgbClr val="0A2E35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 FTP, formatos legados, tokens e paginação. </a:t>
            </a:r>
            <a:r>
              <a:rPr lang="en-US" sz="1450" i="1" dirty="0">
                <a:solidFill>
                  <a:srgbClr val="F6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“Você não precisa saber o que é um arquivo DBC.”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4251960"/>
            <a:ext cx="3383280" cy="3383280"/>
          </a:xfrm>
          <a:prstGeom prst="ellipse">
            <a:avLst/>
          </a:prstGeom>
          <a:solidFill>
            <a:srgbClr val="F5F6F3">
              <a:alpha val="0"/>
            </a:srgbClr>
          </a:solidFill>
          <a:ln w="19050">
            <a:solidFill>
              <a:srgbClr val="EFA63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0112" y="4709160"/>
            <a:ext cx="2468880" cy="2468880"/>
          </a:xfrm>
          <a:prstGeom prst="ellipse">
            <a:avLst/>
          </a:prstGeom>
          <a:solidFill>
            <a:srgbClr val="F5F6F3">
              <a:alpha val="0"/>
            </a:srgbClr>
          </a:solidFill>
          <a:ln w="19050">
            <a:solidFill>
              <a:srgbClr val="EFA63B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5074920"/>
            <a:ext cx="1737360" cy="1737360"/>
          </a:xfrm>
          <a:prstGeom prst="ellipse">
            <a:avLst/>
          </a:prstGeom>
          <a:solidFill>
            <a:srgbClr val="EFA63B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DESTINO DOS DADOS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final não é o arquivo no seu desktop.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6C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abastecer o datalake.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-420624"/>
            <a:ext cx="1316736" cy="1316736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12296" y="-182880"/>
            <a:ext cx="841248" cy="841248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0" y="100584"/>
            <a:ext cx="274320" cy="27432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457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Medalhão: bronze → prata → ouro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7589520" cy="1024128"/>
          </a:xfrm>
          <a:prstGeom prst="roundRect">
            <a:avLst>
              <a:gd name="adj" fmla="val 7143"/>
            </a:avLst>
          </a:prstGeom>
          <a:solidFill>
            <a:srgbClr val="E0B23C"/>
          </a:solidFill>
          <a:ln/>
          <a:effectLst>
            <a:outerShdw blurRad="76200" dist="25400" dir="8100000" algn="bl" rotWithShape="0">
              <a:srgbClr val="0A2E35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1874520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26080" y="1874520"/>
            <a:ext cx="5303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Agregado, pronto para análise, ML e dashboards.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063240"/>
            <a:ext cx="7589520" cy="1024128"/>
          </a:xfrm>
          <a:prstGeom prst="roundRect">
            <a:avLst>
              <a:gd name="adj" fmla="val 7143"/>
            </a:avLst>
          </a:prstGeom>
          <a:solidFill>
            <a:srgbClr val="9CABB0"/>
          </a:solidFill>
          <a:ln/>
          <a:effectLst>
            <a:outerShdw blurRad="76200" dist="25400" dir="8100000" algn="bl" rotWithShape="0">
              <a:srgbClr val="0A2E35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3063240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26080" y="3063240"/>
            <a:ext cx="5303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Limpo, padronizado e integrado entre fontes.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251960"/>
            <a:ext cx="7589520" cy="1024128"/>
          </a:xfrm>
          <a:prstGeom prst="roundRect">
            <a:avLst>
              <a:gd name="adj" fmla="val 7143"/>
            </a:avLst>
          </a:prstGeom>
          <a:solidFill>
            <a:srgbClr val="BC824A"/>
          </a:solidFill>
          <a:ln/>
          <a:effectLst>
            <a:outerShdw blurRad="76200" dist="25400" dir="8100000" algn="bl" rotWithShape="0">
              <a:srgbClr val="0A2E35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4251960"/>
            <a:ext cx="1828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26080" y="4251960"/>
            <a:ext cx="5303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bruto, exatamente como veio da fonte.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732520" y="4251960"/>
            <a:ext cx="2907792" cy="1024128"/>
          </a:xfrm>
          <a:prstGeom prst="roundRect">
            <a:avLst>
              <a:gd name="adj" fmla="val 7143"/>
            </a:avLst>
          </a:prstGeom>
          <a:solidFill>
            <a:srgbClr val="0E3A43"/>
          </a:solidFill>
          <a:ln w="19050">
            <a:solidFill>
              <a:srgbClr val="EFA6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4251960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coleta do Guaraci
</a:t>
            </a:r>
            <a:r>
              <a:rPr lang="en-US" sz="1500" b="1" dirty="0">
                <a:solidFill>
                  <a:srgbClr val="F6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aqui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48640" y="5623560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1C7293"/>
          </a:solidFill>
          <a:ln/>
          <a:effectLst>
            <a:outerShdw blurRad="101600" dist="25400" dir="8100000" algn="bl" rotWithShape="0">
              <a:srgbClr val="0A2E3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62356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Garantimos um bronze confiável e atualizado. Prata e ouro são construídos sobre essa base.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-420624"/>
            <a:ext cx="1316736" cy="1316736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12296" y="-182880"/>
            <a:ext cx="841248" cy="841248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0" y="100584"/>
            <a:ext cx="274320" cy="27432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457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automação da coleta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coleta se mantém atualizada sem baixar tudo de novo: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2225">
            <a:solidFill>
              <a:srgbClr val="EFA63B"/>
            </a:solidFill>
            <a:prstDash val="solid"/>
          </a:ln>
          <a:effectLst>
            <a:outerShdw blurRad="762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2368296"/>
            <a:ext cx="162763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Orquestrador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de forma agendada.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87168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843784" y="224028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762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90088" y="2368296"/>
            <a:ext cx="162763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 volumetria sem baixar nada (preflight).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82312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138928" y="224028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762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85232" y="2368296"/>
            <a:ext cx="162763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Volumetria atual × a da última coleta.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77456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434072" y="224028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762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0376" y="2368296"/>
            <a:ext cx="162763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o delta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que é novo ou mudou de tamanho.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7260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9729216" y="2240280"/>
            <a:ext cx="1920240" cy="1783080"/>
          </a:xfrm>
          <a:prstGeom prst="roundRect">
            <a:avLst>
              <a:gd name="adj" fmla="val 4103"/>
            </a:avLst>
          </a:prstGeom>
          <a:solidFill>
            <a:srgbClr val="BC824A"/>
          </a:solidFill>
          <a:ln w="15875">
            <a:solidFill>
              <a:srgbClr val="DEE4E1"/>
            </a:solidFill>
            <a:prstDash val="solid"/>
          </a:ln>
          <a:effectLst>
            <a:outerShdw blurRad="76200" dist="254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75520" y="2368296"/>
            <a:ext cx="162763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400" dirty="0"/>
          </a:p>
          <a:p>
            <a:pPr marL="0" indent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F3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bruto + manifesto.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34564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63500" dist="127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297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Idempotente  </a:t>
            </a:r>
            <a:r>
              <a:rPr lang="en-US" sz="12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rebaixa o que já existe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4297680"/>
            <a:ext cx="34564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63500" dist="127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34840" y="4297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Rastreável  </a:t>
            </a:r>
            <a:r>
              <a:rPr lang="en-US" sz="12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registrado no manifesto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55280" y="4297680"/>
            <a:ext cx="345643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63500" dist="12700" dir="8100000" algn="bl" rotWithShape="0">
              <a:srgbClr val="0A2E35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138160" y="4297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Econômico  </a:t>
            </a:r>
            <a:r>
              <a:rPr lang="en-US" sz="12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 apenas o delta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257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“Bater volumetria” </a:t>
            </a:r>
            <a:r>
              <a:rPr lang="en-US" sz="1250" i="1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comparar contagem e tamanho dos arquivos para detectar atualização sem transferir os dados.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-420624"/>
            <a:ext cx="1316736" cy="1316736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12296" y="-182880"/>
            <a:ext cx="841248" cy="841248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0" y="100584"/>
            <a:ext cx="274320" cy="27432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457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isso ajuda o pesquisador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084832"/>
            <a:ext cx="420624" cy="420624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o fardo técnico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FTP, sem scripts, sem parsing de formatos legados.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82880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084832"/>
            <a:ext cx="420624" cy="420624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atualizado e rastreável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3429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Sabe-se de onde veio e quando — com manifesto.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084832"/>
            <a:ext cx="420624" cy="420624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na ciência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3429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na pergunta de pesquisa, não no encanamento.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  <a:effectLst>
            <a:outerShdw blurRad="101600" dist="25400" dir="8100000" algn="bl" rotWithShape="0">
              <a:srgbClr val="0A2E3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missão do AutoAI-Pandemics na prática: democratizar o acesso aos dados.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-420624"/>
            <a:ext cx="1316736" cy="1316736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12296" y="-182880"/>
            <a:ext cx="841248" cy="841248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0" y="100584"/>
            <a:ext cx="274320" cy="27432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457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Ideias de problemas práticos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× arboviroses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2578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e temperatura (NASA) × dengue e chikungunya (DATASUS), por município.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78308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Queimadas × respiratório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80560" y="2578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Focos de fogo (NASA FIRMS) × internações respiratórias.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Saneamento × doença hídrica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183880" y="25786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saneamento × notificações gastrointestinais.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55412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8587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Vacinação × mortalidade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3159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campanhas (PNI) × óbitos (SIM).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9048" y="3703320"/>
            <a:ext cx="554126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27648" y="38587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E3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históricas longas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327648" y="43159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Microdados desde os anos 1990 para treinar modelos de ML.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Sementes de projeto para a disciplina — saúde e ambiente se cruzam no Guaraci.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-420624"/>
            <a:ext cx="1316736" cy="1316736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12296" y="-182880"/>
            <a:ext cx="841248" cy="841248"/>
          </a:xfrm>
          <a:prstGeom prst="ellipse">
            <a:avLst/>
          </a:prstGeom>
          <a:solidFill>
            <a:srgbClr val="F5F6F3">
              <a:alpha val="0"/>
            </a:srgbClr>
          </a:solidFill>
          <a:ln w="15875">
            <a:solidFill>
              <a:srgbClr val="EFA63B">
                <a:alpha val="6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0" y="100584"/>
            <a:ext cx="274320" cy="274320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85216"/>
            <a:ext cx="155448" cy="155448"/>
          </a:xfrm>
          <a:prstGeom prst="ellipse">
            <a:avLst/>
          </a:prstGeom>
          <a:solidFill>
            <a:srgbClr val="EFA63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4572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C2B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&amp; estado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59612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FA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95528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integradas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91656" y="1783080"/>
            <a:ext cx="502005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EE4E1"/>
            </a:solidFill>
            <a:prstDash val="solid"/>
          </a:ln>
          <a:effectLst>
            <a:outerShdw blurRad="101600" dist="25400" dir="8100000" algn="bl" rotWithShape="0">
              <a:srgbClr val="0A2E35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20116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FA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v0.5.2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02168" y="2926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alpha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2606040" cy="640080"/>
          </a:xfrm>
          <a:prstGeom prst="roundRect">
            <a:avLst>
              <a:gd name="adj" fmla="val 50000"/>
            </a:avLst>
          </a:prstGeom>
          <a:solidFill>
            <a:srgbClr val="0E3A4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86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46704" y="3886200"/>
            <a:ext cx="2606040" cy="640080"/>
          </a:xfrm>
          <a:prstGeom prst="roundRect">
            <a:avLst>
              <a:gd name="adj" fmla="val 50000"/>
            </a:avLst>
          </a:prstGeom>
          <a:solidFill>
            <a:srgbClr val="0E3A43"/>
          </a:solidFill>
          <a:ln/>
        </p:spPr>
      </p:sp>
      <p:sp>
        <p:nvSpPr>
          <p:cNvPr id="20" name="Text 18"/>
          <p:cNvSpPr/>
          <p:nvPr/>
        </p:nvSpPr>
        <p:spPr>
          <a:xfrm>
            <a:off x="3346704" y="3886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44768" y="3886200"/>
            <a:ext cx="2606040" cy="640080"/>
          </a:xfrm>
          <a:prstGeom prst="roundRect">
            <a:avLst>
              <a:gd name="adj" fmla="val 50000"/>
            </a:avLst>
          </a:prstGeom>
          <a:solidFill>
            <a:srgbClr val="0E3A43"/>
          </a:solidFill>
          <a:ln/>
        </p:spPr>
      </p:sp>
      <p:sp>
        <p:nvSpPr>
          <p:cNvPr id="22" name="Text 20"/>
          <p:cNvSpPr/>
          <p:nvPr/>
        </p:nvSpPr>
        <p:spPr>
          <a:xfrm>
            <a:off x="6144768" y="3886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942832" y="3886200"/>
            <a:ext cx="2606040" cy="640080"/>
          </a:xfrm>
          <a:prstGeom prst="roundRect">
            <a:avLst>
              <a:gd name="adj" fmla="val 50000"/>
            </a:avLst>
          </a:prstGeom>
          <a:solidFill>
            <a:srgbClr val="0E3A43"/>
          </a:solidFill>
          <a:ln/>
        </p:spPr>
      </p:sp>
      <p:sp>
        <p:nvSpPr>
          <p:cNvPr id="24" name="Text 22"/>
          <p:cNvSpPr/>
          <p:nvPr/>
        </p:nvSpPr>
        <p:spPr>
          <a:xfrm>
            <a:off x="8942832" y="3886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7778"/>
            </a:avLst>
          </a:prstGeom>
          <a:solidFill>
            <a:srgbClr val="1C7293"/>
          </a:solidFill>
          <a:ln/>
          <a:effectLst>
            <a:outerShdw blurRad="101600" dist="25400" dir="8100000" algn="bl" rotWithShape="0">
              <a:srgbClr val="0A2E35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atual: robustez da extração para garantir um bronze confiável.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2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-777240"/>
            <a:ext cx="3383280" cy="3383280"/>
          </a:xfrm>
          <a:prstGeom prst="ellipse">
            <a:avLst/>
          </a:prstGeom>
          <a:solidFill>
            <a:srgbClr val="F5F6F3">
              <a:alpha val="0"/>
            </a:srgbClr>
          </a:solidFill>
          <a:ln w="19050">
            <a:solidFill>
              <a:srgbClr val="EFA63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0112" y="-320040"/>
            <a:ext cx="2468880" cy="2468880"/>
          </a:xfrm>
          <a:prstGeom prst="ellipse">
            <a:avLst/>
          </a:prstGeom>
          <a:solidFill>
            <a:srgbClr val="F5F6F3">
              <a:alpha val="0"/>
            </a:srgbClr>
          </a:solidFill>
          <a:ln w="19050">
            <a:solidFill>
              <a:srgbClr val="EFA63B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45720"/>
            <a:ext cx="1737360" cy="1737360"/>
          </a:xfrm>
          <a:prstGeom prst="ellipse">
            <a:avLst/>
          </a:prstGeom>
          <a:solidFill>
            <a:srgbClr val="EFA63B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QUADRO COMPLETO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02412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fonte pública à pesquisa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 w="15875">
            <a:solidFill>
              <a:srgbClr val="8FB9C0"/>
            </a:solidFill>
            <a:prstDash val="solid"/>
          </a:ln>
          <a:effectLst>
            <a:outerShdw blurRad="101600" dist="25400" dir="8100000" algn="bl" rotWithShape="0">
              <a:srgbClr val="061F2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971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públicas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6032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6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16352" y="297180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EFA63B"/>
          </a:solidFill>
          <a:ln w="15875">
            <a:solidFill>
              <a:srgbClr val="F6C25A"/>
            </a:solidFill>
            <a:prstDash val="solid"/>
          </a:ln>
          <a:effectLst>
            <a:outerShdw blurRad="101600" dist="25400" dir="8100000" algn="bl" rotWithShape="0">
              <a:srgbClr val="061F24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07792" y="2971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 · coletor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(automatizado)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28032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6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84064" y="297180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EFA63B"/>
          </a:solidFill>
          <a:ln w="15875">
            <a:solidFill>
              <a:srgbClr val="F6C25A"/>
            </a:solidFill>
            <a:prstDash val="solid"/>
          </a:ln>
          <a:effectLst>
            <a:outerShdw blurRad="101600" dist="25400" dir="8100000" algn="bl" rotWithShape="0">
              <a:srgbClr val="061F24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75504" y="2971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2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95744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6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51776" y="297180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 w="15875">
            <a:solidFill>
              <a:srgbClr val="8FB9C0"/>
            </a:solidFill>
            <a:prstDash val="solid"/>
          </a:ln>
          <a:effectLst>
            <a:outerShdw blurRad="101600" dist="25400" dir="8100000" algn="bl" rotWithShape="0">
              <a:srgbClr val="061F24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43216" y="2971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Prata / Ouro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63456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6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619488" y="2971800"/>
            <a:ext cx="2011680" cy="13716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 w="15875">
            <a:solidFill>
              <a:srgbClr val="8FB9C0"/>
            </a:solidFill>
            <a:prstDash val="solid"/>
          </a:ln>
          <a:effectLst>
            <a:outerShdw blurRad="101600" dist="25400" dir="8100000" algn="bl" rotWithShape="0">
              <a:srgbClr val="061F24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10928" y="29718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&amp; ML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etapas em dourado são a contribuição do Guaraci.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373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Guaraci</a:t>
            </a:r>
            <a:r>
              <a:rPr lang="en-US" sz="900" dirty="0">
                <a:solidFill>
                  <a:srgbClr val="8F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AutoAI-Pandemics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C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3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82912" y="4251960"/>
            <a:ext cx="3383280" cy="3383280"/>
          </a:xfrm>
          <a:prstGeom prst="ellipse">
            <a:avLst/>
          </a:prstGeom>
          <a:solidFill>
            <a:srgbClr val="F5F6F3">
              <a:alpha val="0"/>
            </a:srgbClr>
          </a:solidFill>
          <a:ln w="19050">
            <a:solidFill>
              <a:srgbClr val="EFA63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40112" y="4709160"/>
            <a:ext cx="2468880" cy="2468880"/>
          </a:xfrm>
          <a:prstGeom prst="ellipse">
            <a:avLst/>
          </a:prstGeom>
          <a:solidFill>
            <a:srgbClr val="F5F6F3">
              <a:alpha val="0"/>
            </a:srgbClr>
          </a:solidFill>
          <a:ln w="19050">
            <a:solidFill>
              <a:srgbClr val="EFA63B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5074920"/>
            <a:ext cx="1737360" cy="1737360"/>
          </a:xfrm>
          <a:prstGeom prst="ellipse">
            <a:avLst/>
          </a:prstGeom>
          <a:solidFill>
            <a:srgbClr val="EFA63B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6C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96112" y="2788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96112" y="3657600"/>
            <a:ext cx="4114800" cy="0"/>
          </a:xfrm>
          <a:prstGeom prst="line">
            <a:avLst/>
          </a:prstGeom>
          <a:noFill/>
          <a:ln w="19050">
            <a:solidFill>
              <a:srgbClr val="EFA6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840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Felipe Vogel Lopes
</a:t>
            </a:r>
            <a:r>
              <a:rPr lang="en-US" sz="1400" dirty="0">
                <a:solidFill>
                  <a:srgbClr val="8F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nUSP 13730051   ·   vogel@usp.br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6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github.com/autoaihub/guaraci</a:t>
            </a:r>
            <a:r>
              <a:rPr lang="en-US" sz="1300" dirty="0">
                <a:solidFill>
                  <a:srgbClr val="8F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</a:t>
            </a:r>
            <a:r>
              <a:rPr lang="en-US" sz="1300" dirty="0">
                <a:solidFill>
                  <a:srgbClr val="F6C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autoaipandemics.icmc.usp.br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1556</Words>
  <Application>Microsoft Office PowerPoint</Application>
  <PresentationFormat>Widescreen</PresentationFormat>
  <Paragraphs>218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Guaraci — AutoAI-Pandemics</dc:title>
  <dc:subject>PptxGenJS Presentation</dc:subject>
  <dc:creator>Luis Felipe Vogel Lopes</dc:creator>
  <cp:lastModifiedBy>Conta da Microsoft</cp:lastModifiedBy>
  <cp:revision>3</cp:revision>
  <dcterms:created xsi:type="dcterms:W3CDTF">2026-06-01T23:27:10Z</dcterms:created>
  <dcterms:modified xsi:type="dcterms:W3CDTF">2026-06-02T14:34:50Z</dcterms:modified>
</cp:coreProperties>
</file>